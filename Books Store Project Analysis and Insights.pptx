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44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7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03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57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14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74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9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39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2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3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5800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47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1048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598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568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71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EA98F-8F96-4655-B88E-D52ECEB7948A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F1E8B1-0631-4D62-AB72-1A0603815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96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217F-3FF5-1367-6C41-E97DB4C46D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Books Store Project SQL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FD1A0-0449-FDE0-93D9-90F320ED8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Different Beginner and Advanced Queries + Results + Insights</a:t>
            </a:r>
            <a:endParaRPr lang="en-IN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2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5D24-24B2-6321-EB63-71A4CEFB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 </a:t>
            </a:r>
            <a:r>
              <a:rPr lang="en-IN" sz="2400" b="1" dirty="0">
                <a:latin typeface="Aptos" panose="020B0004020202020204" pitchFamily="34" charset="0"/>
              </a:rPr>
              <a:t>Create Database</a:t>
            </a:r>
            <a:br>
              <a:rPr lang="en-IN" sz="2400" b="1" dirty="0">
                <a:latin typeface="Aptos" panose="020B0004020202020204" pitchFamily="34" charset="0"/>
              </a:rPr>
            </a:br>
            <a:r>
              <a:rPr lang="en-I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 </a:t>
            </a:r>
            <a:r>
              <a:rPr lang="en-IN" sz="2400" b="1" dirty="0">
                <a:latin typeface="Aptos" panose="020B0004020202020204" pitchFamily="34" charset="0"/>
              </a:rPr>
              <a:t>Use Database</a:t>
            </a:r>
            <a:br>
              <a:rPr lang="en-IN" sz="2400" b="1" dirty="0">
                <a:latin typeface="Aptos" panose="020B0004020202020204" pitchFamily="34" charset="0"/>
              </a:rPr>
            </a:br>
            <a:r>
              <a:rPr lang="en-I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 </a:t>
            </a:r>
            <a:r>
              <a:rPr lang="en-IN" sz="2400" b="1" dirty="0">
                <a:latin typeface="Aptos" panose="020B0004020202020204" pitchFamily="34" charset="0"/>
              </a:rPr>
              <a:t>Create Books, Customers and Orders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D2C65-0A60-3739-CCB7-DDB9CDCF6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1" t="5254" r="15211" b="5254"/>
          <a:stretch>
            <a:fillRect/>
          </a:stretch>
        </p:blipFill>
        <p:spPr>
          <a:xfrm>
            <a:off x="0" y="1848465"/>
            <a:ext cx="5535561" cy="5009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27DA68-5E38-8959-E872-0BA60B0E0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0" t="4494" r="14420" b="4494"/>
          <a:stretch>
            <a:fillRect/>
          </a:stretch>
        </p:blipFill>
        <p:spPr>
          <a:xfrm>
            <a:off x="5643716" y="1848464"/>
            <a:ext cx="6548284" cy="500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49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DFA1-E60F-881D-28CD-74627F69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sz="2800" b="1" dirty="0">
                <a:latin typeface="Aptos" panose="020B0004020202020204" pitchFamily="34" charset="0"/>
              </a:rPr>
              <a:t> Importing the data from CSV Files into Books,     Customers, and Orders Table</a:t>
            </a:r>
            <a:endParaRPr lang="en-IN" sz="2800" b="1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61744-CFED-50C2-6EC0-D013E2257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2039"/>
            <a:ext cx="9576619" cy="5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1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CC53-E1E1-F432-CFC5-30C7A5EF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sz="2400" b="1" dirty="0">
                <a:latin typeface="Aptos" panose="020B0004020202020204" pitchFamily="34" charset="0"/>
              </a:rPr>
              <a:t> Looking at how the Books table looks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14EC02-0E65-EF3C-C957-5A728B637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2825"/>
            <a:ext cx="9639379" cy="52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8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5B34-1E0F-9381-39AE-F7C7AD36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sz="2400" b="1" dirty="0">
                <a:latin typeface="Aptos" panose="020B0004020202020204" pitchFamily="34" charset="0"/>
              </a:rPr>
              <a:t> Looking at how the Customers table looks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E1B0F-1E28-F0FE-24EB-F4CCD8D25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4335"/>
            <a:ext cx="9414269" cy="535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0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5623-C40E-406C-9566-D2C024B2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sz="2400" b="1" dirty="0">
                <a:latin typeface="Aptos" panose="020B0004020202020204" pitchFamily="34" charset="0"/>
              </a:rPr>
              <a:t> Looking at how the Orders table looks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C968A-B003-55D4-2827-C3000E356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3999"/>
            <a:ext cx="9417004" cy="53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2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2E1A-AC79-B9B7-7FC8-5FD7410A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00" y="2768600"/>
            <a:ext cx="8596668" cy="1320800"/>
          </a:xfrm>
        </p:spPr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BEGINNER 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1785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D31D-730F-B127-767C-77E1296B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1) </a:t>
            </a:r>
            <a:r>
              <a:rPr lang="en-US" sz="2400" b="1" dirty="0">
                <a:latin typeface="Aptos" panose="020B0004020202020204" pitchFamily="34" charset="0"/>
              </a:rPr>
              <a:t>Retrieve all books in the "Fiction" genre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</a:t>
            </a:r>
            <a:r>
              <a:rPr lang="en-US" sz="2400" b="1" dirty="0">
                <a:latin typeface="Aptos" panose="020B0004020202020204" pitchFamily="34" charset="0"/>
              </a:rPr>
              <a:t> This query helps identify all books that belong to the Fiction category.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A06D0-3CC1-033D-4988-DA724EAC8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4878"/>
            <a:ext cx="9274002" cy="506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2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193B-69D9-9540-4B26-D6102941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2) </a:t>
            </a:r>
            <a:r>
              <a:rPr lang="en-US" sz="2400" b="1" dirty="0">
                <a:latin typeface="Aptos" panose="020B0004020202020204" pitchFamily="34" charset="0"/>
              </a:rPr>
              <a:t>Find books published after the year 1950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shows modern books published after 1950.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0E907-1287-51D6-C2D4-D477E29AD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8804"/>
            <a:ext cx="9274002" cy="506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25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20E2-9A4D-60FD-84C8-E68FBDA8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3) </a:t>
            </a:r>
            <a:r>
              <a:rPr lang="en-US" sz="2400" b="1" dirty="0">
                <a:latin typeface="Aptos" panose="020B0004020202020204" pitchFamily="34" charset="0"/>
              </a:rPr>
              <a:t>List all customers from Canada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helps find customers located in Canada.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912BC-399F-DCA0-4A45-C85813465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018"/>
            <a:ext cx="9274002" cy="507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8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8E19-CAF5-46CA-CFAC-0A2FEA39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4) </a:t>
            </a:r>
            <a:r>
              <a:rPr lang="en-US" sz="2400" b="1" dirty="0">
                <a:latin typeface="Aptos" panose="020B0004020202020204" pitchFamily="34" charset="0"/>
              </a:rPr>
              <a:t>Show orders placed in November 2023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helps analyze monthly order activity for November 2023.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BE7D1-BF1D-51DD-F874-613ECB0DA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4823"/>
            <a:ext cx="9274002" cy="506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17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8C0D-93E4-B616-19E6-34140380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5) </a:t>
            </a:r>
            <a:r>
              <a:rPr lang="en-US" sz="2400" b="1" dirty="0">
                <a:latin typeface="Aptos" panose="020B0004020202020204" pitchFamily="34" charset="0"/>
              </a:rPr>
              <a:t>Retrieve the total stock of books available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gives the total number of books currently available in inventory.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B4A02-6B8B-C3D6-1CBB-8F97AF95F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9003464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85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8E1A-B4BE-9A89-7CEF-C7AFE03D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6) </a:t>
            </a:r>
            <a:r>
              <a:rPr lang="en-US" sz="2400" b="1" dirty="0">
                <a:latin typeface="Aptos" panose="020B0004020202020204" pitchFamily="34" charset="0"/>
              </a:rPr>
              <a:t>Find the details of the most expensive book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identifies the highest-priced book in the bookstore.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4A1B8-F804-EB9E-5397-5BD719F8A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834"/>
            <a:ext cx="9274002" cy="507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2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745E-C8A1-30F1-E9B5-49FFB00A3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31" y="196645"/>
            <a:ext cx="9390898" cy="13208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7) </a:t>
            </a:r>
            <a:r>
              <a:rPr lang="en-US" sz="2400" b="1" dirty="0">
                <a:latin typeface="Aptos" panose="020B0004020202020204" pitchFamily="34" charset="0"/>
              </a:rPr>
              <a:t>Show all customers who ordered more than 1 quantity of a book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shows customers who purchased more than one copy of a book in a single order.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70F01-111A-04E5-4305-3E5805F9A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17446"/>
            <a:ext cx="9505755" cy="53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62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D0A9-1AE9-00E6-2265-208851AB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8) </a:t>
            </a:r>
            <a:r>
              <a:rPr lang="en-US" sz="2400" b="1" dirty="0">
                <a:latin typeface="Aptos" panose="020B0004020202020204" pitchFamily="34" charset="0"/>
              </a:rPr>
              <a:t>Retrieve all orders where the total amount exceeds $20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helps identify higher-value orders above $20.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098AF-7DE0-6220-F853-B1AC2DA4F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8994607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58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2291-C84A-591D-4219-4C85B2518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9) </a:t>
            </a:r>
            <a:r>
              <a:rPr lang="en-US" sz="2400" b="1" dirty="0">
                <a:latin typeface="Aptos" panose="020B0004020202020204" pitchFamily="34" charset="0"/>
              </a:rPr>
              <a:t>List all genres available in the Books table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displays all unique book genres available in the bookstore.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AE6D1-984B-D2BD-596F-E35FC7282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9020803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65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D08E-8DFC-A1BE-E400-9C630F99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10) </a:t>
            </a:r>
            <a:r>
              <a:rPr lang="en-US" sz="2400" b="1" dirty="0">
                <a:latin typeface="Aptos" panose="020B0004020202020204" pitchFamily="34" charset="0"/>
              </a:rPr>
              <a:t>Find the book with the lowest stock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identifies the book with the least available stock, useful for restocking decisions.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14012-4B4B-9DFD-E5CA-04CBBFB60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3916"/>
            <a:ext cx="9274002" cy="507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0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C0AC-25EE-1B14-1B2E-A846602E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11) </a:t>
            </a:r>
            <a:r>
              <a:rPr lang="en-US" sz="2400" b="1" dirty="0">
                <a:latin typeface="Aptos" panose="020B0004020202020204" pitchFamily="34" charset="0"/>
              </a:rPr>
              <a:t>Calculate the total revenue generated from all orders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calculates the overall revenue generated from book sales.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1DA49-2A3E-D151-AE70-D11651660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9003464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0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2A75-9745-B84D-7DD9-9B3B4C92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573" y="2768600"/>
            <a:ext cx="8596668" cy="1320800"/>
          </a:xfrm>
        </p:spPr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ADVANCED 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4821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DDE7-33B0-1A3B-A09A-DDF6D2B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1) </a:t>
            </a:r>
            <a:r>
              <a:rPr lang="en-US" sz="2400" b="1" dirty="0">
                <a:latin typeface="Aptos" panose="020B0004020202020204" pitchFamily="34" charset="0"/>
              </a:rPr>
              <a:t>Retrieve the total number of books sold for each genre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shows which genres are selling the most based on total quantity sold.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1DFD6-FFC0-8C33-9CC3-1BB07A946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9015561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74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9CFE-0A5D-5FB4-F673-92C2A59D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2) </a:t>
            </a:r>
            <a:r>
              <a:rPr lang="en-US" sz="2400" b="1" dirty="0">
                <a:latin typeface="Aptos" panose="020B0004020202020204" pitchFamily="34" charset="0"/>
              </a:rPr>
              <a:t>Find the average price of books in the "Fantasy" genre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calculates the average price of Fantasy books.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8FC1D-A793-97D1-7EA1-214084CB2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640"/>
            <a:ext cx="9274002" cy="505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95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9067-2320-0FEE-6B5A-01C82F09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3) </a:t>
            </a:r>
            <a:r>
              <a:rPr lang="en-US" sz="2400" b="1" dirty="0">
                <a:latin typeface="Aptos" panose="020B0004020202020204" pitchFamily="34" charset="0"/>
              </a:rPr>
              <a:t>List customers who have placed at least 2 orders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identifies repeat customers who have placed two or more orders.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79474-2080-86FC-1723-CC7676218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399"/>
            <a:ext cx="9020979" cy="49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92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723D-085D-B80A-4C40-D5F095D0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4) </a:t>
            </a:r>
            <a:r>
              <a:rPr lang="en-US" sz="2400" b="1" dirty="0">
                <a:latin typeface="Aptos" panose="020B0004020202020204" pitchFamily="34" charset="0"/>
              </a:rPr>
              <a:t>Find the most frequently ordered book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finds the most popular book based on total quantity ordered.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F73BB-6DBE-586E-303E-7EA544C19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682"/>
            <a:ext cx="9274002" cy="507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6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D5BB-E232-0860-621B-88F6BC44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5) </a:t>
            </a:r>
            <a:r>
              <a:rPr lang="en-US" sz="2400" b="1" dirty="0">
                <a:latin typeface="Aptos" panose="020B0004020202020204" pitchFamily="34" charset="0"/>
              </a:rPr>
              <a:t>Show the top 3 most expensive books of Fantasy genre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highlights the top 3 highest-priced Fantasy books.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D8B42-65A8-A528-4351-CBDAAFA2C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500"/>
            <a:ext cx="9274002" cy="504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06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1602-02A7-9142-7D29-EE02F12B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6) </a:t>
            </a:r>
            <a:r>
              <a:rPr lang="en-US" sz="2400" b="1" dirty="0">
                <a:latin typeface="Aptos" panose="020B0004020202020204" pitchFamily="34" charset="0"/>
              </a:rPr>
              <a:t>Retrieve the total quantity of books sold by each author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shows author-wise sales performance based on total books sold.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25BFE-655D-7F19-5604-7103C160F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750"/>
            <a:ext cx="9274002" cy="50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87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89A9-BC84-AA60-41A3-33099D0C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60" y="186812"/>
            <a:ext cx="9253246" cy="13208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7) </a:t>
            </a:r>
            <a:r>
              <a:rPr lang="en-US" sz="2400" b="1" dirty="0">
                <a:latin typeface="Aptos" panose="020B0004020202020204" pitchFamily="34" charset="0"/>
              </a:rPr>
              <a:t>List the cities where customers who spent over $30 are located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identifies customers and cities where total spending is more than $30.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4CCFB-A3BA-7978-6143-0E3B029F2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7612"/>
            <a:ext cx="9830495" cy="535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37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9DEB-4275-B278-1EFC-081A9F59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8) </a:t>
            </a:r>
            <a:r>
              <a:rPr lang="en-US" sz="2400" b="1" dirty="0">
                <a:latin typeface="Aptos" panose="020B0004020202020204" pitchFamily="34" charset="0"/>
              </a:rPr>
              <a:t>Find the customer who spent the most on orders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finds the highest-spending customer of the bookstore.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CDD01-7C52-8B4B-7C34-877E69365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9001339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35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A646-3C2F-4B3A-D1A1-DB4C8960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5" y="176981"/>
            <a:ext cx="8596668" cy="13208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9) </a:t>
            </a:r>
            <a:r>
              <a:rPr lang="en-US" sz="2400" b="1" dirty="0">
                <a:latin typeface="Aptos" panose="020B0004020202020204" pitchFamily="34" charset="0"/>
              </a:rPr>
              <a:t>Calculate the stock remaining after fulfilling all orders</a:t>
            </a:r>
            <a:br>
              <a:rPr lang="en-US" sz="2400" b="1" dirty="0">
                <a:latin typeface="Aptos" panose="020B0004020202020204" pitchFamily="34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Insight: </a:t>
            </a:r>
            <a:r>
              <a:rPr lang="en-US" sz="2400" b="1" dirty="0">
                <a:latin typeface="Aptos" panose="020B0004020202020204" pitchFamily="34" charset="0"/>
              </a:rPr>
              <a:t>This query calculates remaining stock for each book after subtracting sold quantities. It also includes books with no orders because LEFT JOIN is used.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B16B9-B2F9-1569-17DD-9AB423736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806"/>
            <a:ext cx="9312926" cy="508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916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</TotalTime>
  <Words>601</Words>
  <Application>Microsoft Office PowerPoint</Application>
  <PresentationFormat>Widescreen</PresentationFormat>
  <Paragraphs>29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Trebuchet MS</vt:lpstr>
      <vt:lpstr>Wingdings 3</vt:lpstr>
      <vt:lpstr>Facet</vt:lpstr>
      <vt:lpstr>Books Store Project SQL</vt:lpstr>
      <vt:lpstr>- Create Database - Use Database - Create Books, Customers and Orders Table</vt:lpstr>
      <vt:lpstr>- Importing the data from CSV Files into Books,     Customers, and Orders Table</vt:lpstr>
      <vt:lpstr>- Looking at how the Books table looks</vt:lpstr>
      <vt:lpstr>- Looking at how the Customers table looks</vt:lpstr>
      <vt:lpstr>- Looking at how the Orders table looks</vt:lpstr>
      <vt:lpstr>BEGINNER QUESTIONS</vt:lpstr>
      <vt:lpstr>1) Retrieve all books in the "Fiction" genre Insight: This query helps identify all books that belong to the Fiction category.</vt:lpstr>
      <vt:lpstr>2) Find books published after the year 1950 Insight: This query shows modern books published after 1950.</vt:lpstr>
      <vt:lpstr>3) List all customers from Canada Insight: This query helps find customers located in Canada.</vt:lpstr>
      <vt:lpstr>4) Show orders placed in November 2023 Insight: This query helps analyze monthly order activity for November 2023.</vt:lpstr>
      <vt:lpstr>5) Retrieve the total stock of books available Insight: This query gives the total number of books currently available in inventory.</vt:lpstr>
      <vt:lpstr>6) Find the details of the most expensive book Insight: This query identifies the highest-priced book in the bookstore.</vt:lpstr>
      <vt:lpstr>7) Show all customers who ordered more than 1 quantity of a book Insight: This query shows customers who purchased more than one copy of a book in a single order.</vt:lpstr>
      <vt:lpstr>8) Retrieve all orders where the total amount exceeds $20 Insight: This query helps identify higher-value orders above $20.</vt:lpstr>
      <vt:lpstr>9) List all genres available in the Books table Insight: This query displays all unique book genres available in the bookstore.</vt:lpstr>
      <vt:lpstr>10) Find the book with the lowest stock Insight: This query identifies the book with the least available stock, useful for restocking decisions.</vt:lpstr>
      <vt:lpstr>11) Calculate the total revenue generated from all orders Insight: This query calculates the overall revenue generated from book sales.</vt:lpstr>
      <vt:lpstr>ADVANCED QUESTIONS</vt:lpstr>
      <vt:lpstr>1) Retrieve the total number of books sold for each genre Insight: This query shows which genres are selling the most based on total quantity sold.</vt:lpstr>
      <vt:lpstr>2) Find the average price of books in the "Fantasy" genre Insight: This query calculates the average price of Fantasy books.</vt:lpstr>
      <vt:lpstr>3) List customers who have placed at least 2 orders Insight: This query identifies repeat customers who have placed two or more orders.</vt:lpstr>
      <vt:lpstr>4) Find the most frequently ordered book Insight: This query finds the most popular book based on total quantity ordered.</vt:lpstr>
      <vt:lpstr>5) Show the top 3 most expensive books of Fantasy genre Insight: This query highlights the top 3 highest-priced Fantasy books.</vt:lpstr>
      <vt:lpstr>6) Retrieve the total quantity of books sold by each author Insight: This query shows author-wise sales performance based on total books sold.</vt:lpstr>
      <vt:lpstr>7) List the cities where customers who spent over $30 are located Insight: This query identifies customers and cities where total spending is more than $30.</vt:lpstr>
      <vt:lpstr>8) Find the customer who spent the most on orders Insight: This query finds the highest-spending customer of the bookstore.</vt:lpstr>
      <vt:lpstr>9) Calculate the stock remaining after fulfilling all orders Insight: This query calculates remaining stock for each book after subtracting sold quantities. It also includes books with no orders because LEFT JOIN is used.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Savita</dc:creator>
  <cp:lastModifiedBy>Abhishek Savita</cp:lastModifiedBy>
  <cp:revision>1</cp:revision>
  <dcterms:created xsi:type="dcterms:W3CDTF">2026-05-28T16:54:59Z</dcterms:created>
  <dcterms:modified xsi:type="dcterms:W3CDTF">2026-05-28T18:32:08Z</dcterms:modified>
</cp:coreProperties>
</file>